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JetBrains Mono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AD4C5B-437C-430D-B9FC-B6487E8F641B}">
  <a:tblStyle styleId="{DFAD4C5B-437C-430D-B9FC-B6487E8F64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JetBrainsMonoSemiBold-bold.fntdata"/><Relationship Id="rId23" Type="http://schemas.openxmlformats.org/officeDocument/2006/relationships/font" Target="fonts/JetBrainsMono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SemiBold-boldItalic.fntdata"/><Relationship Id="rId25" Type="http://schemas.openxmlformats.org/officeDocument/2006/relationships/font" Target="fonts/JetBrainsMono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1585019"/>
            <a:ext cx="1143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966019"/>
            <a:ext cx="9001125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Agentic AI Dynamic Tariff Optimization for EV Charging Networks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206031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Society of Business · Open Project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987081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Presenter: </a:t>
            </a:r>
            <a:r>
              <a:rPr b="1" lang="en-US"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Yash Bansal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25810"/>
            <a:ext cx="52197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1725810"/>
            <a:ext cx="52197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59385"/>
            <a:ext cx="52197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0300" y="3659385"/>
            <a:ext cx="521970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571500"/>
            <a:ext cx="11001375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Dynamic pricing aligns demand with capacity to increase revenue by +2.8% and off-peak utilization by +15%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571500"/>
            <a:ext cx="57150" cy="868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57275" y="2021085"/>
            <a:ext cx="4860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Adaptive Engine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7275" y="2363985"/>
            <a:ext cx="4629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self-improving, three-agent pricing engine for EV charging that forecasts demand with </a:t>
            </a:r>
            <a:r>
              <a:rPr b="1" i="0" lang="en-US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R² 0.95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accuracy.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05575" y="2021085"/>
            <a:ext cx="4860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State Elasticity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05575" y="2363985"/>
            <a:ext cx="4629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Discovers that price elasticity is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state-dependent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demand is inelastic during congestion and highly elastic when idle.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57275" y="3954660"/>
            <a:ext cx="4860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Revenue Impact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57275" y="4297560"/>
            <a:ext cx="46291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Alignment of price with demand earns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+2.8% revenue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lifts off-peak charging by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+15%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at revenue-neutral averages.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05575" y="3954660"/>
            <a:ext cx="4860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Policy Learning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05575" y="4297560"/>
            <a:ext cx="4629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Monitoring agents treat tariffs as a revenue tool, improving composite objective scores from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6.5 to 20.2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60091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550" y="1821741"/>
            <a:ext cx="19716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52500" y="571500"/>
            <a:ext cx="11001375" cy="1302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unified dataset from Caltech and Shenzhen charging networks provides the foundation for data-driven modeling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62000" y="571500"/>
            <a:ext cx="57150" cy="13028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095375" y="2160100"/>
            <a:ext cx="887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Unified Panel: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279k rows of hourly station data mapping occupancy to energy flows.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95375" y="2826850"/>
            <a:ext cx="793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ACN (Caltech/JPL):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14,999 clean sessions used for workplace charging signature analysis.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95375" y="3493600"/>
            <a:ext cx="7454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UrbanEV (Shenzhen):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247 grids featuring real time-varying prices and dynamic pricing flags.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95375" y="4160350"/>
            <a:ext cx="793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Features: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Utilization rates, energy cost/kWh, queue proxies, and occupancy density.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2245816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1600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82684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4935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6034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5810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1878210"/>
            <a:ext cx="17145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52500" y="571500"/>
            <a:ext cx="11001375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Charging networks are primarily under-utilized with occupancy peaking overnight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62000" y="571500"/>
            <a:ext cx="57150" cy="868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3533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095375" y="1725810"/>
            <a:ext cx="4762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Counter-intuitive Finding: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Charging occupancy peaks overnight (hours 0–1, 6), shifting the focus to off-peak capacity.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95375" y="264973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Idle Capacity: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Mean network utilization is only 28%. The dominant opportunity is filling the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72% idle average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95375" y="331648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Agent Strategy: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Pricing is based on realized utilization states, not static clock-based assumptions.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7258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6497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3164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title="01_intraday_utilizati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1300" y="1669250"/>
            <a:ext cx="59198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4700" y="1916310"/>
            <a:ext cx="38290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52500" y="571500"/>
            <a:ext cx="11001375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LightGBM models forecast charging utilization with high accuracy (R² 0.95) for urban grids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62000" y="571500"/>
            <a:ext cx="57150" cy="868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6315075"/>
            <a:ext cx="6076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Note: Urban networks show high predictability compared to more volatile workplace session logs. 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762000" y="1725810"/>
            <a:ext cx="10668000" cy="1771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7"/>
          <p:cNvGraphicFramePr/>
          <p:nvPr/>
        </p:nvGraphicFramePr>
        <p:xfrm>
          <a:off x="762000" y="17258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{DFAD4C5B-437C-430D-B9FC-B6487E8F641B}</a:tableStyleId>
              </a:tblPr>
              <a:tblGrid>
                <a:gridCol w="2908700"/>
                <a:gridCol w="1851725"/>
                <a:gridCol w="3572175"/>
                <a:gridCol w="2325875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R²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 R² (Seasonal)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RMSE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UrbanEV (Grid)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ACN (Workplace)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17"/>
          <p:cNvSpPr txBox="1"/>
          <p:nvPr/>
        </p:nvSpPr>
        <p:spPr>
          <a:xfrm>
            <a:off x="762000" y="378321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Forecasting accuracy at the grid level provides the agent with reliable state probabilities for price setting.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766762" y="2325885"/>
            <a:ext cx="290869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675459" y="2325885"/>
            <a:ext cx="185171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527178" y="2325885"/>
            <a:ext cx="357217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099351" y="2325885"/>
            <a:ext cx="232588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66762" y="2911673"/>
            <a:ext cx="2908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675459" y="2911673"/>
            <a:ext cx="18517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527178" y="2911673"/>
            <a:ext cx="35721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9099351" y="2911673"/>
            <a:ext cx="2325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66762" y="3483173"/>
            <a:ext cx="2908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675459" y="3483173"/>
            <a:ext cx="18517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527178" y="3483173"/>
            <a:ext cx="35721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9099351" y="3483173"/>
            <a:ext cx="2325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35410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2487810"/>
            <a:ext cx="1695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952500" y="571500"/>
            <a:ext cx="11001375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Price elasticity is state-dependent: demand is elastic when idle and inelastic during congestion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62000" y="571500"/>
            <a:ext cx="57150" cy="868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82973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1247775" y="1830575"/>
            <a:ext cx="303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q = q₀ · mε(state)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62000" y="2554485"/>
            <a:ext cx="5095875" cy="33718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8"/>
          <p:cNvGraphicFramePr/>
          <p:nvPr/>
        </p:nvGraphicFramePr>
        <p:xfrm>
          <a:off x="762000" y="25544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{DFAD4C5B-437C-430D-B9FC-B6487E8F641B}</a:tableStyleId>
              </a:tblPr>
              <a:tblGrid>
                <a:gridCol w="1583375"/>
                <a:gridCol w="1420725"/>
                <a:gridCol w="2082250"/>
              </a:tblGrid>
              <a:tr h="8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Utilization 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ε (Elasticity)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Behaviour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8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Off-peak (Idle)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-0.51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Elastic → Discounts grow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Mid-Level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 sensitivity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Busy / Congested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C262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≈ 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Inelastic → Surge captures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80" name="Google Shape;18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234493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766762" y="3411735"/>
            <a:ext cx="158338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350144" y="3411735"/>
            <a:ext cx="142071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770858" y="3411735"/>
            <a:ext cx="208225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66762" y="4254698"/>
            <a:ext cx="1583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350144" y="4254698"/>
            <a:ext cx="1420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770858" y="4254698"/>
            <a:ext cx="2082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66762" y="5083373"/>
            <a:ext cx="1583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2350144" y="5083373"/>
            <a:ext cx="1420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770858" y="5083373"/>
            <a:ext cx="2082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762" y="5912048"/>
            <a:ext cx="1583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2350144" y="5912048"/>
            <a:ext cx="1420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770858" y="5912048"/>
            <a:ext cx="2082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8" title="04_price_vs_deman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3675" y="2421150"/>
            <a:ext cx="5464701" cy="35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750" y="5257800"/>
            <a:ext cx="26670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49960"/>
            <a:ext cx="10668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952500" y="571500"/>
            <a:ext cx="11001375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Demand-responsive tariffs generate +2.8% revenue and +15.3% off-peak lift without raising average price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762000" y="571500"/>
            <a:ext cx="57150" cy="868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62000" y="1725810"/>
            <a:ext cx="10668000" cy="23431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9"/>
          <p:cNvGraphicFramePr/>
          <p:nvPr/>
        </p:nvGraphicFramePr>
        <p:xfrm>
          <a:off x="762000" y="17258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{DFAD4C5B-437C-430D-B9FC-B6487E8F641B}</a:tableStyleId>
              </a:tblPr>
              <a:tblGrid>
                <a:gridCol w="3358450"/>
                <a:gridCol w="2527100"/>
                <a:gridCol w="2461625"/>
                <a:gridCol w="2311300"/>
              </a:tblGrid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Operating 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Avg Price Factor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vs Flat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Off-peak Uplift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Flat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×1.00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Revenue-neutral (Core)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×1.00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+2.8%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+15.3%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Learned Policy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×1.20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+20.5%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+6.1%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9"/>
          <p:cNvSpPr/>
          <p:nvPr/>
        </p:nvSpPr>
        <p:spPr>
          <a:xfrm>
            <a:off x="766762" y="2325885"/>
            <a:ext cx="33584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125217" y="2325885"/>
            <a:ext cx="252710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652319" y="2325885"/>
            <a:ext cx="246161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9113936" y="2325885"/>
            <a:ext cx="23113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990600" y="4640460"/>
            <a:ext cx="10248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Honest Limitation: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990600" y="4897635"/>
            <a:ext cx="10248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Surge pricing does not reduce peak occupancy significantly. The primary grid lever is attracting demand to off-peak periods.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766762" y="2911673"/>
            <a:ext cx="3358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125217" y="2911673"/>
            <a:ext cx="25271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652319" y="2911673"/>
            <a:ext cx="2461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9113936" y="2911673"/>
            <a:ext cx="231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766762" y="3483173"/>
            <a:ext cx="3358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4125217" y="3483173"/>
            <a:ext cx="25271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652319" y="3483173"/>
            <a:ext cx="2461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9113936" y="3483173"/>
            <a:ext cx="231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766762" y="4054673"/>
            <a:ext cx="3358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125217" y="4054673"/>
            <a:ext cx="25271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652319" y="4054673"/>
            <a:ext cx="2461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9113936" y="4054673"/>
            <a:ext cx="2311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5810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1878210"/>
            <a:ext cx="17526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52500" y="571500"/>
            <a:ext cx="11001375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Monitoring agents rapidly tune pricing policies to optimize the revenue-access balance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762000" y="571500"/>
            <a:ext cx="57150" cy="868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3533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1095375" y="172581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Agentic Feedback: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Monitor scores every decision to tune surge/discount sensitivity (Score 6.5 → 20.2).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095375" y="239256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Learned Inelasticity: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loop confirms peak demand is inelastic, allowing for effective revenue capture.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95375" y="305931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Dynamic Lever: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Price scarcity by demand state rather than clock-based schedules.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1095375" y="372606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Grid Health: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Discounts serve as a tool for grid health and off-peak volume growth.</a:t>
            </a:r>
            <a:endParaRPr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7258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3925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0593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7260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title="05_volatility_by_perio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5600" y="1762399"/>
            <a:ext cx="5644398" cy="37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